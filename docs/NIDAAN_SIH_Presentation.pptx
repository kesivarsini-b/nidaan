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38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85D30"/>
                </a:solidFill>
                <a:latin typeface="Segoe UI"/>
              </a:rPr>
              <a:t>SMART INDIA HACKATHON 2025/26  —  SOFTWARE EDITION</a:t>
            </a:r>
          </a:p>
          <a:p>
            <a:pPr>
              <a:spcAft>
                <a:spcPts val="12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NIDAAN — AI-Enabled Real-Time Stress &amp; Trauma Assessment Middleware Engine for NHAA 14566</a:t>
            </a:r>
          </a:p>
          <a:p>
            <a:r>
              <a:rPr sz="1500" b="0">
                <a:solidFill>
                  <a:srgbClr val="A9B3C8"/>
                </a:solidFill>
                <a:latin typeface="Segoe UI"/>
              </a:rPr>
              <a:t>Every atrocity call is a voice under pressure. NIDAAN converts that voice into a live 0–100 risk index — and dispatches the right SC/ST Act response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8EBF2"/>
                </a:solidFill>
                <a:latin typeface="Segoe UI"/>
              </a:rPr>
              <a:t>Problem Statement ID: 26093    |    Theme: Smart Automation / AI for Social Impact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Ministry of Social Justice &amp; Empowerment (MoSJE)  —  National Helpline Against Atrocities (NHAA 14566)</a:t>
            </a:r>
          </a:p>
          <a:p>
            <a:r>
              <a:rPr sz="1500" b="1">
                <a:solidFill>
                  <a:srgbClr val="E85D30"/>
                </a:solidFill>
                <a:latin typeface="Segoe UI"/>
              </a:rPr>
              <a:t>Team NIDAAN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5603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3C8"/>
                </a:solidFill>
                <a:latin typeface="Segoe UI"/>
              </a:rPr>
              <a:t>PS 26093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8EBF2"/>
                </a:solidFill>
                <a:latin typeface="Segoe UI"/>
              </a:rPr>
              <a:t>Goal: turn Helpline 14566 into an asynchronous, priority-aware triage engine — no call waits, no note-taking during the victim's narration.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" b="0">
                <a:solidFill>
                  <a:srgbClr val="E8EBF2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BF2"/>
                </a:solidFill>
                <a:latin typeface="Segoe UI"/>
              </a:rPr>
              <a:t>▸  Asynchronous voice + text processing — audio streamed &amp; analysed in 2-second chunks over WebSocket; never blocks the call.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BF2"/>
                </a:solidFill>
                <a:latin typeface="Segoe UI"/>
              </a:rPr>
              <a:t>▸  Live SVI (Stress–Vulnerability Index) — single 0–100 fused score from acoustic distress (pitch instability, jitter, shimmer, tremor band 3–8 Hz, silence gaps) + 10-category Hinglish trauma/abuse lexicon.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BF2"/>
                </a:solidFill>
                <a:latin typeface="Segoe UI"/>
              </a:rPr>
              <a:t>▸  Tiered, statute-anchored dispatch — live SVI re-mapped to a PoA action plan every 2 seconds.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BF2"/>
                </a:solidFill>
                <a:latin typeface="Segoe UI"/>
              </a:rPr>
              <a:t>▸  Operator cockpit — live transcript, keyword highlights, risk gauge, waveform, per-feature trace, full statutory action card (owner + SLA + channel).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874519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" b="0">
                <a:solidFill>
                  <a:srgbClr val="E8EBF2"/>
                </a:solidFill>
                <a:latin typeface="Segoe UI"/>
              </a:rPr>
              <a:t/>
            </a:r>
            <a:r>
              <a:rPr sz="1200" b="0">
                <a:solidFill>
                  <a:srgbClr val="A9B3C8"/>
                </a:solidFill>
                <a:latin typeface="Segoe UI"/>
              </a:rPr>
              <a:t>C = audio channel confidence; As = acoustic score; Ts = text score. On silence/degraded audio, score degrades safely to the text channel.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E85D30"/>
                </a:solidFill>
                <a:latin typeface="Consolas"/>
              </a:rPr>
              <a:t>SVI = Cᴀᵤⲗᵥᵨ · (0.4 · As + 0.6 · Ts) + (1 − Cᴀᵤⲗᵥᵨ) · 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70332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84124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SVI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Immediate dispatch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0–30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Routine docket + SMS follow-up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31–60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MODERATE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District Welfare Officer callback ≤ 24 h + 48 h safety recheck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61–80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Senior-counselor live transfer, tele-medical referral, DSP-level escalation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81–100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BF2"/>
                          </a:solidFill>
                          <a:latin typeface="Segoe UI"/>
                        </a:rPr>
                        <a:t>Queue bypass, District Police PCR ≤ 1 min, 108 ambulance ≤ 10 min, Witness Protection (Sec 15A)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Technical Approach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5603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3C8"/>
                </a:solidFill>
                <a:latin typeface="Segoe UI"/>
              </a:rPr>
              <a:t>PS 26093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EBF2"/>
                </a:solidFill>
                <a:latin typeface="Segoe UI"/>
              </a:rPr>
              <a:t>System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2651760" cy="960120"/>
          </a:xfrm>
          <a:prstGeom prst="round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91640"/>
            <a:ext cx="25054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1. Catch The Voice</a:t>
            </a:r>
          </a:p>
          <a:p>
            <a:r>
              <a:rPr sz="950" b="0">
                <a:solidFill>
                  <a:srgbClr val="A9B3C8"/>
                </a:solidFill>
                <a:latin typeface="Segoe UI"/>
              </a:rPr>
              <a:t>WebRTC mic / IVR audio file → WS stream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1874519"/>
            <a:ext cx="502920" cy="457200"/>
          </a:xfrm>
          <a:prstGeom prst="rightArrow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651760" cy="960120"/>
          </a:xfrm>
          <a:prstGeom prst="round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91640"/>
            <a:ext cx="25054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2. Analyse In Parallel</a:t>
            </a:r>
          </a:p>
          <a:p>
            <a:r>
              <a:rPr sz="950" b="0">
                <a:solidFill>
                  <a:srgbClr val="A9B3C8"/>
                </a:solidFill>
                <a:latin typeface="Segoe UI"/>
              </a:rPr>
              <a:t>Acoustic Analyzer ∥ Text Analyzer · 2 s chunks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1874519"/>
            <a:ext cx="502920" cy="457200"/>
          </a:xfrm>
          <a:prstGeom prst="rightArrow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1600200"/>
            <a:ext cx="2651760" cy="960120"/>
          </a:xfrm>
          <a:prstGeom prst="round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691640"/>
            <a:ext cx="25054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3. Fuse &amp; Classify</a:t>
            </a:r>
          </a:p>
          <a:p>
            <a:r>
              <a:rPr sz="950" b="0">
                <a:solidFill>
                  <a:srgbClr val="A9B3C8"/>
                </a:solidFill>
                <a:latin typeface="Segoe UI"/>
              </a:rPr>
              <a:t>SVI Engine · late fusion · 0–100 · 4 tiers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1874519"/>
            <a:ext cx="502920" cy="457200"/>
          </a:xfrm>
          <a:prstGeom prst="rightArrow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1600200"/>
            <a:ext cx="2651760" cy="960120"/>
          </a:xfrm>
          <a:prstGeom prst="round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1691640"/>
            <a:ext cx="25054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4. Dispatch &amp; Track</a:t>
            </a:r>
          </a:p>
          <a:p>
            <a:r>
              <a:rPr sz="950" b="0">
                <a:solidFill>
                  <a:srgbClr val="A9B3C8"/>
                </a:solidFill>
                <a:latin typeface="Segoe UI"/>
              </a:rPr>
              <a:t>PoA Recommender → dashboard / emergency modal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1480" y="2880360"/>
          <a:ext cx="113385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5486400"/>
              </a:tblGrid>
              <a:tr h="50945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Role in NIDAAN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Backend runtime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FastAPI + Uvicorn (Python 3.10+)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REST + WebSocket live engine, session orchestration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Real-time transport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WebRTC / WebSocket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Browser mic capture, 2-second audio chunk streaming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Speech / Text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Bhashini ASR + Whisper (integration path); built-in Hinglish lexicon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Hindi/Hinglish speech-to-text and keyword/trigger extraction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Acoustic analysis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librosa / pyin / OpenSMILE (NumPy/SciPy fallback in-core)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Pitch, jitter, shimmer, tremor FFT (3–8 Hz), silence ratio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Fusion &amp; policy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SVI fusion formula + static tier bands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Explainable 0–100 escalation with statutory PoA mapping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Vanilla JS dashboard (WebRTC + Canvas)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BF2"/>
                          </a:solidFill>
                          <a:latin typeface="Segoe UI"/>
                        </a:rPr>
                        <a:t>Gauge, trace, scenario player, offline mirror engine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11480" y="63550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3C8"/>
                </a:solidFill>
                <a:latin typeface="Segoe UI"/>
              </a:rPr>
              <a:t>Deployment-ready: single-container uvicorn backend.app:app (Docker, port 8000) with a full browser offline fallback — the SVI math runs with zero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Feasibility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5603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3C8"/>
                </a:solidFill>
                <a:latin typeface="Segoe UI"/>
              </a:rPr>
              <a:t>PS 26093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5156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Challenge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NIDAAN response</a:t>
                      </a:r>
                    </a:p>
                  </a:txBody>
                  <a:tcPr marL="73152" marR="73152" marT="27432" marB="27432" anchor="t">
                    <a:solidFill>
                      <a:srgbClr val="1A2233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Low-bandwidth telephony (PSTN/IVR)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Chunked 2-second streaming, confidence-gated fusion — on silence/degraded audio the score degrades safely to the text channel without dropping the session.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Local languages / dialects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Hinglish-first lexicon (Hindi/Urdu/Punjabi/Bhojpuri mixed); Bhashini + Whisper path to 22 scheduled languages.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Network / cloud unavailability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Full offline demo mode — browser-embedded SVI engine (offline_data.js) reproduces identical features, formula, tiers and action plans with zero backend.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MoSJE administrative integration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Tiered plans map to real NHAA workflow owners (Welfare Office, Legal Aid Cell, District Police PCR, Witness Protection Cell) with named SLA + channel.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Deployment cost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BF2"/>
                          </a:solidFill>
                          <a:latin typeface="Segoe UI"/>
                        </a:rPr>
                        <a:t>Lightweight container (~1 GB), single-core viable, no GPU at PoC stage — air-gapped-friendly footprint.</a:t>
                      </a:r>
                    </a:p>
                  </a:txBody>
                  <a:tcPr marL="73152" marR="73152" marT="27432" marB="27432" anchor="t">
                    <a:solidFill>
                      <a:srgbClr val="0F14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440680"/>
            <a:ext cx="11338560" cy="1097280"/>
          </a:xfrm>
          <a:prstGeom prst="round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E85D30"/>
                </a:solidFill>
                <a:latin typeface="Segoe UI"/>
              </a:rPr>
              <a:t>Viability horizon</a:t>
            </a:r>
          </a:p>
          <a:p>
            <a:r>
              <a:rPr sz="1300" b="0">
                <a:solidFill>
                  <a:srgbClr val="E8EBF2"/>
                </a:solidFill>
                <a:latin typeface="Segoe UI"/>
              </a:rPr>
              <a:t>PoC (this build) → NHAA pilot with MoSJE IT + NCCS; consent-based deployment of Whisper/Bhashini ASR in the call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5603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3C8"/>
                </a:solidFill>
                <a:latin typeface="Segoe UI"/>
              </a:rPr>
              <a:t>PS 26093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" b="0">
                <a:solidFill>
                  <a:srgbClr val="E8EBF2"/>
                </a:solidFill>
                <a:latin typeface="Segoe UI"/>
              </a:rPr>
              <a:t/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 Reduces operator cognitive load —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E8EBF2"/>
                </a:solidFill>
                <a:latin typeface="Segoe UI"/>
              </a:rPr>
              <a:t>     dashboard pre-classifies &amp; pre-drafts the action plan; ≥30% call-handling effort saved on critical-call intake.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 Eliminates queue delay for critical atrocity cases —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E8EBF2"/>
                </a:solidFill>
                <a:latin typeface="Segoe UI"/>
              </a:rPr>
              <a:t>     queue bypass, PCR notification ≤ 1 min, ambulance ≤ 10 min — a live first-response bolus manual helplines cannot match.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 Strengthens SC/ST Act enforcement —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E8EBF2"/>
                </a:solidFill>
                <a:latin typeface="Segoe UI"/>
              </a:rPr>
              <a:t>     every CRITICAL case auto-anchors to Sec 3(2)(v), 15A(1), 15A(2), 21(2) with a per-step SLA.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 Witness-protection tracking —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E8EBF2"/>
                </a:solidFill>
                <a:latin typeface="Segoe UI"/>
              </a:rPr>
              <a:t>     PoA plan carries Witness Protection Cell activation (Sec 15A, 5-min SLA) + encrypted victim-location dispatch.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 Guardrails —</a:t>
            </a:r>
          </a:p>
          <a:p>
            <a:r>
              <a:rPr sz="1350" b="0">
                <a:solidFill>
                  <a:srgbClr val="E8EBF2"/>
                </a:solidFill>
                <a:latin typeface="Segoe UI"/>
              </a:rPr>
              <a:t>     explainable per-feature trace, confidence-gated audio, human-in-the-loop override before any dispatch.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881360" cy="731520"/>
          </a:xfrm>
          <a:prstGeom prst="round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5D30"/>
                </a:solidFill>
                <a:latin typeface="Segoe UI"/>
              </a:rPr>
              <a:t>24/7 triage at a 2-second cadence — zero dropped detail between the victim's narration and the statutory docket.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85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5603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3C8"/>
                </a:solidFill>
                <a:latin typeface="Segoe UI"/>
              </a:rPr>
              <a:t>PS 26093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3385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E85D30"/>
                </a:solidFill>
                <a:latin typeface="Segoe UI"/>
              </a:rPr>
              <a:t>Legal framework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▸  The Scheduled Castes and the Scheduled Tribes (Prevention of Atrocities) Act, 1989 (No. 33 of 1989) and Rules.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▸  The SC/ST (Prevention of Atrocities) Amendment Act, 2015; PoA Amendment Rules 2016 / 2018 (witness protection scheme).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▸  Sections mapped in PoA engine: Sec 3(1)(r), 3(2)(v), 4, 6, 8, 15A(1/2), 18A, 21(2), 22.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5D30"/>
                </a:solidFill>
                <a:latin typeface="Segoe UI"/>
              </a:rPr>
              <a:t>Psychological distress / trauma benchmarks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▸  WHO Psychological First Aid: Guide for Field Workers; IASC MHPSS Guidelines (2007) — tier thresholds &amp; recheck SLAs.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▸  WHO PSSD-style screening cues (sleep, agitation, withdrawal, verbalised suicidal intent) folded into lexicon severity weights.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5D30"/>
                </a:solidFill>
                <a:latin typeface="Segoe UI"/>
              </a:rPr>
              <a:t>AI / speech frameworks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▸  Bhashini — National Language Translation Mission (bhashini.gov.in); OpenAI Whisper — live transcription path.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BF2"/>
                </a:solidFill>
                <a:latin typeface="Segoe UI"/>
              </a:rPr>
              <a:t>▸  OpenSMILE / librosa + pyin — paralinguistic acoustic standards underpinning the acoustic score As.</a:t>
            </a:r>
          </a:p>
          <a:p>
            <a:r>
              <a:rPr sz="1300" b="0">
                <a:solidFill>
                  <a:srgbClr val="E8EBF2"/>
                </a:solidFill>
                <a:latin typeface="Segoe UI"/>
              </a:rPr>
              <a:t>▸  MoSJE — National Helpline Against Atrocities (NHAA 14566) operational brief.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